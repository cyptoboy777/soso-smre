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2" r:id="rId8"/>
    <p:sldId id="264" r:id="rId10"/>
    <p:sldId id="267" r:id="rId13"/>
    <p:sldId id="259" r:id="rId5"/>
    <p:sldId id="269" r:id="rId15"/>
    <p:sldId id="270" r:id="rId16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6.xml"/><Relationship Id="rId8" Type="http://schemas.openxmlformats.org/officeDocument/2006/relationships/slide" Target="slides/slide3.xml"/><Relationship Id="rId10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FlowSentinel turns SoSoValue flow and news data into a written thesis, a readable risk gate and a confirmed SoDEX testnet order.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pain: too many feeds and no disciplined path from signal to trade.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IDs from our SoDEX testnet runs: 1301914828 (market IOC, partial fill), 1301909841 (FILLED, 0.00005 vBTC at 78619), 1301909840 (limit, NEW). Max notional 10 USDC enforced server-side.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four-step flow mirrors the live desk: Data, Thesis, Risk gate, Order.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Endpoints used: /etfs/summary-history, /news/hot and the SSI MAG7 index snapshot.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Jarvis uses Gemini function calling over five tools. Voice stack: Silero VAD, Whisper STT, Kokoro/Piper TTS, all open source. Voice never places orders.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Judge path: https://flowsentinel-app.vercel.app/judge. Diagnostics: https://flowsentinel-app.vercel.app/api/diag, 10/10 live probes.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Next.js on Vercel, keys server-side only, gated orders, Lighthouse 95 desktop / 93 mobile.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Forward-looking plan only. No traction, revenue or user numbers are claimed.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app: https://flowsentinel-app.vercel.app  GitHub: https://github.com/Cyptoboy777/soso-smre  Builder: Narendra Varma. Source: FlowSentinel app (https://flowsentinel-app.vercel.app) and the builder's own SoDEX testnet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hyperlink" Target="https://flowsentinel-app.vercel.app" TargetMode="External"/><Relationship Id="rId5" Type="http://schemas.openxmlformats.org/officeDocument/2006/relationships/hyperlink" Target="https://flowsentinel-app.vercel.app/judge" TargetMode="External"/><Relationship Id="rId6" Type="http://schemas.openxmlformats.org/officeDocument/2006/relationships/hyperlink" Target="https://github.com/Cyptoboy777/soso-sm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250" y="122530"/>
            <a:ext cx="9508846" cy="62170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900" kern="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 SENTINEL</a:t>
            </a:r>
          </a:p>
        </p:txBody>
      </p:sp>
      <p:sp>
        <p:nvSpPr>
          <p:cNvPr id="3" name="Shape 1"/>
          <p:cNvSpPr/>
          <p:nvPr/>
        </p:nvSpPr>
        <p:spPr>
          <a:xfrm>
            <a:off x="5159383" y="564523"/>
            <a:ext cx="5340334" cy="5340334"/>
          </a:xfrm>
          <a:prstGeom prst="ellipse">
            <a:avLst/>
          </a:prstGeom>
          <a:noFill/>
          <a:ln w="310485">
            <a:solidFill>
              <a:srgbClr val="5C241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556309" y="32461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kern="0" dirty="0" spc="20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SOSOVALUE WAVE 3 BUILDATHON</a:t>
            </a:r>
          </a:p>
        </p:txBody>
      </p:sp>
      <p:sp>
        <p:nvSpPr>
          <p:cNvPr id="5" name="Text 3"/>
          <p:cNvSpPr/>
          <p:nvPr/>
        </p:nvSpPr>
        <p:spPr>
          <a:xfrm>
            <a:off x="1520647" y="36118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kern="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</a:t>
            </a:r>
            <a:r>
              <a:rPr lang="en-US" sz="7200" kern="0" dirty="0" b="1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Sentinel</a:t>
            </a:r>
          </a:p>
        </p:txBody>
      </p:sp>
      <p:sp>
        <p:nvSpPr>
          <p:cNvPr id="6" name="Text 4"/>
          <p:cNvSpPr/>
          <p:nvPr/>
        </p:nvSpPr>
        <p:spPr>
          <a:xfrm>
            <a:off x="1520647" y="48463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the flow. Act with a gate.</a:t>
            </a:r>
          </a:p>
        </p:txBody>
      </p:sp>
      <p:sp>
        <p:nvSpPr>
          <p:cNvPr id="7" name="Shape 5"/>
          <p:cNvSpPr/>
          <p:nvPr/>
        </p:nvSpPr>
        <p:spPr>
          <a:xfrm>
            <a:off x="1044245" y="3218688"/>
            <a:ext cx="320040" cy="457200"/>
          </a:xfrm>
          <a:custGeom>
            <a:avLst/>
            <a:gdLst/>
            <a:ahLst/>
            <a:cxnLst/>
            <a:rect l="l" t="t" r="r" b="b"/>
            <a:pathLst>
              <a:path w="368503" h="523037">
                <a:moveTo>
                  <a:pt x="239573" y="0"/>
                </a:moveTo>
                <a:lnTo>
                  <a:pt x="368503" y="0"/>
                </a:lnTo>
                <a:lnTo>
                  <a:pt x="128930" y="523037"/>
                </a:lnTo>
                <a:lnTo>
                  <a:pt x="0" y="523037"/>
                </a:lnTo>
                <a:close/>
              </a:path>
            </a:pathLst>
          </a:custGeom>
          <a:solidFill>
            <a:srgbClr val="FF5A1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1949" y="435254"/>
            <a:ext cx="2268626" cy="613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kern="0" dirty="0">
                <a:solidFill>
                  <a:srgbClr val="D0CE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AKINDO  |  SoSoValue Wave 3</a:t>
            </a:r>
          </a:p>
          <a:p>
            <a:pPr indent="0" marL="0">
              <a:lnSpc>
                <a:spcPct val="150000"/>
              </a:lnSpc>
              <a:buNone/>
            </a:pPr>
            <a:r>
              <a:rPr lang="en-US" sz="1200" kern="0" dirty="0">
                <a:solidFill>
                  <a:srgbClr val="D0CE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Buildathon submission</a:t>
            </a:r>
          </a:p>
        </p:txBody>
      </p:sp>
      <p:sp>
        <p:nvSpPr>
          <p:cNvPr id="9" name="Text 7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544068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D0CECE"/>
                </a:solidFill>
                <a:latin typeface="Inter"/>
              </a:rPr>
              <a:t>A one-person AI fund desk on SoSoValue data and SoDEX execution.</a:t>
            </a:r>
          </a:p>
        </p:txBody>
      </p:sp>
      <p:pic>
        <p:nvPicPr>
          <p:cNvPr id="12" name="Picture 11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2429552" cy="5257800"/>
          </a:xfrm>
          <a:prstGeom prst="rect">
            <a:avLst/>
          </a:prstGeom>
        </p:spPr>
      </p:pic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468" y="-47549"/>
            <a:ext cx="11876227" cy="45089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7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NOISE</a:t>
            </a:r>
          </a:p>
        </p:txBody>
      </p:sp>
      <p:sp>
        <p:nvSpPr>
          <p:cNvPr id="3" name="Text 1"/>
          <p:cNvSpPr/>
          <p:nvPr/>
        </p:nvSpPr>
        <p:spPr>
          <a:xfrm>
            <a:off x="2531059" y="4205326"/>
            <a:ext cx="9827971" cy="264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6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OVERLOAD</a:t>
            </a:r>
          </a:p>
        </p:txBody>
      </p:sp>
      <p:sp>
        <p:nvSpPr>
          <p:cNvPr id="4" name="Text 2"/>
          <p:cNvSpPr/>
          <p:nvPr/>
        </p:nvSpPr>
        <p:spPr>
          <a:xfrm>
            <a:off x="967435" y="1600200"/>
            <a:ext cx="45720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</a:p>
        </p:txBody>
      </p:sp>
      <p:sp>
        <p:nvSpPr>
          <p:cNvPr id="5" name="Text 3"/>
          <p:cNvSpPr/>
          <p:nvPr/>
        </p:nvSpPr>
        <p:spPr>
          <a:xfrm>
            <a:off x="967435" y="2103120"/>
            <a:ext cx="5669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everywhere.</a:t>
            </a:r>
          </a:p>
          <a:p>
            <a:pPr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Discipline nowhere.</a:t>
            </a:r>
          </a:p>
        </p:txBody>
      </p:sp>
      <p:sp>
        <p:nvSpPr>
          <p:cNvPr id="7" name="Text 5"/>
          <p:cNvSpPr/>
          <p:nvPr/>
        </p:nvSpPr>
        <p:spPr>
          <a:xfrm>
            <a:off x="8301838" y="559612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CE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desk that turns every signal into a written thesis, a readable risk check and a confirmed order.</a:t>
            </a:r>
          </a:p>
        </p:txBody>
      </p:sp>
      <p:sp>
        <p:nvSpPr>
          <p:cNvPr id="8" name="Shape 6"/>
          <p:cNvSpPr/>
          <p:nvPr/>
        </p:nvSpPr>
        <p:spPr>
          <a:xfrm>
            <a:off x="6820510" y="1698041"/>
            <a:ext cx="4320540" cy="3172054"/>
          </a:xfrm>
          <a:prstGeom prst="roundRect">
            <a:avLst>
              <a:gd name="adj" fmla="val 5246"/>
            </a:avLst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269480" y="1874519"/>
            <a:ext cx="35204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 is cheap. A disciplined path from signal to trade is not.</a:t>
            </a:r>
          </a:p>
        </p:txBody>
      </p:sp>
      <p:sp>
        <p:nvSpPr>
          <p:cNvPr id="12" name="Shape 10"/>
          <p:cNvSpPr/>
          <p:nvPr/>
        </p:nvSpPr>
        <p:spPr>
          <a:xfrm>
            <a:off x="8129930" y="5097780"/>
            <a:ext cx="0" cy="1239012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08238" y="5240426"/>
            <a:ext cx="292608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gap we close</a:t>
            </a:r>
          </a:p>
        </p:txBody>
      </p:sp>
      <p:sp>
        <p:nvSpPr>
          <p:cNvPr id="14" name="Text 12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2239" y="81335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5A1F"/>
                </a:solidFill>
                <a:latin typeface="Space Grotesk"/>
              </a:rPr>
              <a:t>02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" y="406908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D0CECE"/>
                </a:solidFill>
                <a:latin typeface="Inter"/>
              </a:rPr>
              <a:t>ETF flows, headlines and index moves arrive all day, across a dozen tabs.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D0CECE"/>
                </a:solidFill>
                <a:latin typeface="Inter"/>
              </a:rPr>
              <a:t>Traders react to the loudest signal, not the most relevant one.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>
                <a:solidFill>
                  <a:srgbClr val="D0CECE"/>
                </a:solidFill>
                <a:latin typeface="Inter"/>
              </a:rPr>
              <a:t>Between a hunch and a market order there is no thesis, no size check and no stop.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18" y="415138"/>
            <a:ext cx="12139574" cy="3770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3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</a:t>
            </a:r>
          </a:p>
        </p:txBody>
      </p:sp>
      <p:sp>
        <p:nvSpPr>
          <p:cNvPr id="3" name="Shape 1"/>
          <p:cNvSpPr/>
          <p:nvPr/>
        </p:nvSpPr>
        <p:spPr>
          <a:xfrm>
            <a:off x="0" y="3975811"/>
            <a:ext cx="12191695" cy="2882189"/>
          </a:xfrm>
          <a:prstGeom prst="rect">
            <a:avLst/>
          </a:prstGeom>
          <a:solidFill>
            <a:srgbClr val="FF5A1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67104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flow from data to order</a:t>
            </a:r>
          </a:p>
        </p:txBody>
      </p:sp>
      <p:sp>
        <p:nvSpPr>
          <p:cNvPr id="5" name="Text 3"/>
          <p:cNvSpPr/>
          <p:nvPr/>
        </p:nvSpPr>
        <p:spPr>
          <a:xfrm>
            <a:off x="1524304" y="1463040"/>
            <a:ext cx="91440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</a:p>
        </p:txBody>
      </p:sp>
      <p:sp>
        <p:nvSpPr>
          <p:cNvPr id="6" name="Shape 4"/>
          <p:cNvSpPr/>
          <p:nvPr/>
        </p:nvSpPr>
        <p:spPr>
          <a:xfrm>
            <a:off x="1321308" y="3450031"/>
            <a:ext cx="1051560" cy="1051560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</a:t>
            </a:r>
          </a:p>
        </p:txBody>
      </p:sp>
      <p:sp>
        <p:nvSpPr>
          <p:cNvPr id="9" name="Shape 7"/>
          <p:cNvSpPr/>
          <p:nvPr/>
        </p:nvSpPr>
        <p:spPr>
          <a:xfrm>
            <a:off x="4155948" y="3450031"/>
            <a:ext cx="1051560" cy="1051560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55848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Thesis</a:t>
            </a:r>
          </a:p>
        </p:txBody>
      </p:sp>
      <p:sp>
        <p:nvSpPr>
          <p:cNvPr id="12" name="Shape 10"/>
          <p:cNvSpPr/>
          <p:nvPr/>
        </p:nvSpPr>
        <p:spPr>
          <a:xfrm>
            <a:off x="6981444" y="3450031"/>
            <a:ext cx="1051560" cy="1051560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81344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gate</a:t>
            </a:r>
          </a:p>
        </p:txBody>
      </p:sp>
      <p:sp>
        <p:nvSpPr>
          <p:cNvPr id="15" name="Shape 13"/>
          <p:cNvSpPr/>
          <p:nvPr/>
        </p:nvSpPr>
        <p:spPr>
          <a:xfrm>
            <a:off x="9816084" y="3450031"/>
            <a:ext cx="1051560" cy="1051560"/>
          </a:xfrm>
          <a:prstGeom prst="roundRect">
            <a:avLst>
              <a:gd name="adj" fmla="val 7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15984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</a:t>
            </a:r>
          </a:p>
        </p:txBody>
      </p:sp>
      <p:sp>
        <p:nvSpPr>
          <p:cNvPr id="21" name="Text 19"/>
          <p:cNvSpPr/>
          <p:nvPr/>
        </p:nvSpPr>
        <p:spPr>
          <a:xfrm>
            <a:off x="1588313" y="5870448"/>
            <a:ext cx="881390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order passes all four steps. No shortcut from a headline to a fill.</a:t>
            </a:r>
          </a:p>
        </p:txBody>
      </p:sp>
      <p:sp>
        <p:nvSpPr>
          <p:cNvPr id="23" name="Shape 21"/>
          <p:cNvSpPr/>
          <p:nvPr/>
        </p:nvSpPr>
        <p:spPr>
          <a:xfrm>
            <a:off x="5463540" y="6355080"/>
            <a:ext cx="1264615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5767" y="79324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5A1F"/>
                </a:solidFill>
                <a:latin typeface="Space Grotesk"/>
              </a:rPr>
              <a:t>03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" y="3450031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Space Grotesk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138928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>
                <a:solidFill>
                  <a:srgbClr val="FFFFFF"/>
                </a:solidFill>
                <a:latin typeface="Inter"/>
              </a:rPr>
              <a:t>SoSoValue ETF flows, hot news and the SSI MAG7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374903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5948" y="3450031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Space Grotesk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5138928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>
                <a:solidFill>
                  <a:srgbClr val="FFFFFF"/>
                </a:solidFill>
                <a:latin typeface="Inter"/>
              </a:rPr>
              <a:t>A plain-English idea with a confidence score and cited news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4436" y="374903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1444" y="3450031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Space Grotesk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5138928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>
                <a:solidFill>
                  <a:srgbClr val="FFFFFF"/>
                </a:solidFill>
                <a:latin typeface="Inter"/>
              </a:rPr>
              <a:t>Size, drawdown and news-shock checks you can 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374903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6084" y="3450031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Space Grotesk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5138928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>
                <a:solidFill>
                  <a:srgbClr val="FFFFFF"/>
                </a:solidFill>
                <a:latin typeface="Inter"/>
              </a:rPr>
              <a:t>A confirmed, EIP-712 signed order on SoDEX testnet</a:t>
            </a:r>
          </a:p>
        </p:txBody>
      </p:sp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462" y="3682289"/>
            <a:ext cx="10749686" cy="264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6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CITED</a:t>
            </a:r>
          </a:p>
        </p:txBody>
      </p:sp>
      <p:sp>
        <p:nvSpPr>
          <p:cNvPr id="3" name="Text 1"/>
          <p:cNvSpPr/>
          <p:nvPr/>
        </p:nvSpPr>
        <p:spPr>
          <a:xfrm>
            <a:off x="5281574" y="617220"/>
            <a:ext cx="5882335" cy="3770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</a:t>
            </a:r>
          </a:p>
        </p:txBody>
      </p:sp>
      <p:sp>
        <p:nvSpPr>
          <p:cNvPr id="4" name="Text 2"/>
          <p:cNvSpPr/>
          <p:nvPr/>
        </p:nvSpPr>
        <p:spPr>
          <a:xfrm>
            <a:off x="972007" y="1417320"/>
            <a:ext cx="6096305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SoSoValue integration</a:t>
            </a:r>
          </a:p>
        </p:txBody>
      </p:sp>
      <p:sp>
        <p:nvSpPr>
          <p:cNvPr id="5" name="Text 3"/>
          <p:cNvSpPr/>
          <p:nvPr/>
        </p:nvSpPr>
        <p:spPr>
          <a:xfrm>
            <a:off x="972007" y="1938528"/>
            <a:ext cx="6217920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idea is cited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88136" y="3302813"/>
          <a:ext cx="5715000" cy="2916936"/>
        </p:xfrm>
        <a:graphic>
          <a:graphicData uri="http://schemas.openxmlformats.org/drawingml/2006/table">
            <a:tbl>
              <a:tblPr/>
              <a:tblGrid>
                <a:gridCol w="214884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Feed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What FlowSentinel does with it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b="1">
                          <a:solidFill>
                            <a:srgbClr val="14121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ETF flows</a:t>
                      </a: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3A0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/etfs/summary-history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21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Daily BTC and ETH ETF net flows set the direction of each thesis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b="1">
                          <a:solidFill>
                            <a:srgbClr val="14121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Hot news</a:t>
                      </a: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3A0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/news/hot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21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catalysts, plus the news-shock check inside the risk gate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 b="1">
                          <a:solidFill>
                            <a:srgbClr val="14121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SSI MAG7</a:t>
                      </a: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3A0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index snapshot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21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wider risk-on or risk-off read on the crypto market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42302" y="3302813"/>
            <a:ext cx="329184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Cited, not guessed</a:t>
            </a:r>
          </a:p>
        </p:txBody>
      </p:sp>
      <p:sp>
        <p:nvSpPr>
          <p:cNvPr id="9" name="Text 6"/>
          <p:cNvSpPr/>
          <p:nvPr/>
        </p:nvSpPr>
        <p:spPr>
          <a:xfrm>
            <a:off x="7442302" y="3669487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0CE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thesis lists the SoSoValue news IDs it used, so any claim can be traced back to its source in one click.</a:t>
            </a:r>
          </a:p>
        </p:txBody>
      </p:sp>
      <p:sp>
        <p:nvSpPr>
          <p:cNvPr id="16" name="Text 7"/>
          <p:cNvSpPr/>
          <p:nvPr/>
        </p:nvSpPr>
        <p:spPr>
          <a:xfrm>
            <a:off x="8160106" y="513892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CE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SoSoValue API key stays on the server. The browser only ever sees the result.</a:t>
            </a:r>
          </a:p>
        </p:txBody>
      </p:sp>
      <p:sp>
        <p:nvSpPr>
          <p:cNvPr id="11" name="Shape 8"/>
          <p:cNvSpPr/>
          <p:nvPr/>
        </p:nvSpPr>
        <p:spPr>
          <a:xfrm>
            <a:off x="8000086" y="4983480"/>
            <a:ext cx="0" cy="100584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103" y="822503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5A1F"/>
                </a:solidFill>
                <a:latin typeface="Space Grotesk"/>
              </a:rPr>
              <a:t>04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617" y="630936"/>
            <a:ext cx="832927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JARVIS</a:t>
            </a:r>
          </a:p>
        </p:txBody>
      </p:sp>
      <p:sp>
        <p:nvSpPr>
          <p:cNvPr id="3" name="Text 1"/>
          <p:cNvSpPr/>
          <p:nvPr/>
        </p:nvSpPr>
        <p:spPr>
          <a:xfrm>
            <a:off x="5441594" y="1907438"/>
            <a:ext cx="5943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Jarvis, the AI advisor</a:t>
            </a:r>
          </a:p>
        </p:txBody>
      </p:sp>
      <p:sp>
        <p:nvSpPr>
          <p:cNvPr id="4" name="Text 2"/>
          <p:cNvSpPr/>
          <p:nvPr/>
        </p:nvSpPr>
        <p:spPr>
          <a:xfrm>
            <a:off x="5441594" y="2492654"/>
            <a:ext cx="6309360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shows its work</a:t>
            </a:r>
          </a:p>
        </p:txBody>
      </p:sp>
      <p:sp>
        <p:nvSpPr>
          <p:cNvPr id="6" name="Shape 4"/>
          <p:cNvSpPr/>
          <p:nvPr/>
        </p:nvSpPr>
        <p:spPr>
          <a:xfrm>
            <a:off x="4484218" y="3429000"/>
            <a:ext cx="3263494" cy="2908706"/>
          </a:xfrm>
          <a:prstGeom prst="roundRect">
            <a:avLst>
              <a:gd name="adj" fmla="val 4873"/>
            </a:avLst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07585" y="416052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with function calling</a:t>
            </a:r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ETF flows, hot news, SSI, the SoDEX orderbook and an order ticket on demand.</a:t>
            </a:r>
          </a:p>
        </p:txBody>
      </p:sp>
      <p:sp>
        <p:nvSpPr>
          <p:cNvPr id="10" name="Shape 8"/>
          <p:cNvSpPr/>
          <p:nvPr/>
        </p:nvSpPr>
        <p:spPr>
          <a:xfrm>
            <a:off x="7899502" y="3429000"/>
            <a:ext cx="3263494" cy="2908706"/>
          </a:xfrm>
          <a:prstGeom prst="roundRect">
            <a:avLst>
              <a:gd name="adj" fmla="val 4873"/>
            </a:avLst>
          </a:prstGeom>
          <a:solidFill>
            <a:srgbClr val="F4F4F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00593" y="416052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14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Hands-free voice, in many languages</a:t>
            </a:r>
          </a:p>
          <a:p>
            <a:pPr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412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Silero VAD, Whisper STT, Kokoro or Piper TTS. All open source. Voice never places orders.</a:t>
            </a:r>
          </a:p>
        </p:txBody>
      </p:sp>
      <p:sp>
        <p:nvSpPr>
          <p:cNvPr id="14" name="Text 12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6398" y="98160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5A1F"/>
                </a:solidFill>
                <a:latin typeface="Space Grotesk"/>
              </a:rPr>
              <a:t>05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7584" y="38221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FFFF"/>
                </a:solidFill>
                <a:latin typeface="Space Grotesk"/>
              </a:rPr>
              <a:t>THINKS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592" y="3822191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5A1F"/>
                </a:solidFill>
                <a:latin typeface="Space Grotesk"/>
              </a:rPr>
              <a:t>LISTENS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C8580"/>
                </a:solidFill>
                <a:latin typeface="Inter"/>
              </a:rPr>
              <a:t>Live thesis from the desk, news IDs cited inline</a:t>
            </a:r>
          </a:p>
        </p:txBody>
      </p:sp>
      <p:pic>
        <p:nvPicPr>
          <p:cNvPr id="20" name="Picture 19" descr="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3549328" cy="2907792"/>
          </a:xfrm>
          <a:prstGeom prst="rect">
            <a:avLst/>
          </a:prstGeom>
        </p:spPr>
      </p:pic>
      <p:pic>
        <p:nvPicPr>
          <p:cNvPr id="21" name="Picture 2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989" y="140818"/>
            <a:ext cx="10934395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SIGNED</a:t>
            </a:r>
          </a:p>
        </p:txBody>
      </p:sp>
      <p:sp>
        <p:nvSpPr>
          <p:cNvPr id="3" name="Text 1"/>
          <p:cNvSpPr/>
          <p:nvPr/>
        </p:nvSpPr>
        <p:spPr>
          <a:xfrm>
            <a:off x="193853" y="3191256"/>
            <a:ext cx="10934395" cy="3770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SODEX</a:t>
            </a:r>
          </a:p>
        </p:txBody>
      </p:sp>
      <p:sp>
        <p:nvSpPr>
          <p:cNvPr id="4" name="Shape 2"/>
          <p:cNvSpPr/>
          <p:nvPr/>
        </p:nvSpPr>
        <p:spPr>
          <a:xfrm>
            <a:off x="6096305" y="1282903"/>
            <a:ext cx="2447849" cy="2447849"/>
          </a:xfrm>
          <a:prstGeom prst="roundRect">
            <a:avLst>
              <a:gd name="adj" fmla="val 702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0399" y="1282903"/>
            <a:ext cx="2447849" cy="2447849"/>
          </a:xfrm>
          <a:prstGeom prst="roundRect">
            <a:avLst>
              <a:gd name="adj" fmla="val 702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096305" y="3873398"/>
            <a:ext cx="2447849" cy="2447849"/>
          </a:xfrm>
          <a:prstGeom prst="roundRect">
            <a:avLst>
              <a:gd name="adj" fmla="val 702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0399" y="3873398"/>
            <a:ext cx="2447849" cy="2447849"/>
          </a:xfrm>
          <a:prstGeom prst="roundRect">
            <a:avLst>
              <a:gd name="adj" fmla="val 7023"/>
            </a:avLst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5431" y="2057400"/>
            <a:ext cx="4939589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SoDEX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935431" y="257860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 orders.</a:t>
            </a:r>
          </a:p>
          <a:p>
            <a:pPr indent="0" marL="0">
              <a:buNone/>
            </a:pPr>
            <a:r>
              <a:rPr lang="en-US" sz="36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Signed and capped.</a:t>
            </a:r>
          </a:p>
        </p:txBody>
      </p:sp>
      <p:sp>
        <p:nvSpPr>
          <p:cNvPr id="12" name="Text 10"/>
          <p:cNvSpPr/>
          <p:nvPr/>
        </p:nvSpPr>
        <p:spPr>
          <a:xfrm>
            <a:off x="6370624" y="2060143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4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1301914828</a:t>
            </a:r>
          </a:p>
        </p:txBody>
      </p:sp>
      <p:sp>
        <p:nvSpPr>
          <p:cNvPr id="13" name="Text 11"/>
          <p:cNvSpPr/>
          <p:nvPr/>
        </p:nvSpPr>
        <p:spPr>
          <a:xfrm>
            <a:off x="6370624" y="2654503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fill on SoDEX testnet</a:t>
            </a:r>
          </a:p>
        </p:txBody>
      </p:sp>
      <p:sp>
        <p:nvSpPr>
          <p:cNvPr id="15" name="Text 13"/>
          <p:cNvSpPr/>
          <p:nvPr/>
        </p:nvSpPr>
        <p:spPr>
          <a:xfrm>
            <a:off x="8954719" y="2060143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4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1301909841</a:t>
            </a:r>
          </a:p>
        </p:txBody>
      </p:sp>
      <p:sp>
        <p:nvSpPr>
          <p:cNvPr id="16" name="Text 14"/>
          <p:cNvSpPr/>
          <p:nvPr/>
        </p:nvSpPr>
        <p:spPr>
          <a:xfrm>
            <a:off x="8954719" y="2654503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0.00005 vBTC at 78619</a:t>
            </a:r>
          </a:p>
        </p:txBody>
      </p:sp>
      <p:sp>
        <p:nvSpPr>
          <p:cNvPr id="18" name="Text 16"/>
          <p:cNvSpPr/>
          <p:nvPr/>
        </p:nvSpPr>
        <p:spPr>
          <a:xfrm>
            <a:off x="6370624" y="465063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4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1301909840</a:t>
            </a:r>
          </a:p>
        </p:txBody>
      </p:sp>
      <p:sp>
        <p:nvSpPr>
          <p:cNvPr id="19" name="Text 17"/>
          <p:cNvSpPr/>
          <p:nvPr/>
        </p:nvSpPr>
        <p:spPr>
          <a:xfrm>
            <a:off x="6370624" y="524499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Accepted with status NEW</a:t>
            </a:r>
          </a:p>
        </p:txBody>
      </p:sp>
      <p:sp>
        <p:nvSpPr>
          <p:cNvPr id="21" name="Text 19"/>
          <p:cNvSpPr/>
          <p:nvPr/>
        </p:nvSpPr>
        <p:spPr>
          <a:xfrm>
            <a:off x="8954719" y="465063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USDC</a:t>
            </a:r>
          </a:p>
        </p:txBody>
      </p:sp>
      <p:sp>
        <p:nvSpPr>
          <p:cNvPr id="22" name="Text 20"/>
          <p:cNvSpPr/>
          <p:nvPr/>
        </p:nvSpPr>
        <p:spPr>
          <a:xfrm>
            <a:off x="8954719" y="524499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max notional on every order</a:t>
            </a:r>
          </a:p>
        </p:txBody>
      </p:sp>
      <p:sp>
        <p:nvSpPr>
          <p:cNvPr id="23" name="Text 21"/>
          <p:cNvSpPr/>
          <p:nvPr/>
        </p:nvSpPr>
        <p:spPr>
          <a:xfrm>
            <a:off x="2018081" y="546811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CE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risk gate must pass and you must confirm. Only then is the order signed and sent.</a:t>
            </a:r>
          </a:p>
        </p:txBody>
      </p:sp>
      <p:sp>
        <p:nvSpPr>
          <p:cNvPr id="24" name="Shape 22"/>
          <p:cNvSpPr/>
          <p:nvPr/>
        </p:nvSpPr>
        <p:spPr>
          <a:xfrm>
            <a:off x="1780337" y="4867351"/>
            <a:ext cx="0" cy="1453896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8080" y="5097780"/>
            <a:ext cx="320040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locks on every order</a:t>
            </a:r>
          </a:p>
        </p:txBody>
      </p:sp>
      <p:sp>
        <p:nvSpPr>
          <p:cNvPr id="28" name="Text 26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289" y="138074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5A1F"/>
                </a:solidFill>
                <a:latin typeface="Space Grotesk"/>
              </a:rPr>
              <a:t>06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" y="40233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D0CECE"/>
                </a:solidFill>
                <a:latin typeface="Inter"/>
              </a:rPr>
              <a:t>EIP-712 signed orders, placed live on SoDEX testnet.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624" y="163037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5A1F"/>
                </a:solidFill>
                <a:latin typeface="Space Grotesk"/>
              </a:rPr>
              <a:t>MARKET IOC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4719" y="163037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5A1F"/>
                </a:solidFill>
                <a:latin typeface="Space Grotesk"/>
              </a:rPr>
              <a:t>FILLED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624" y="422087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5A1F"/>
                </a:solidFill>
                <a:latin typeface="Space Grotesk"/>
              </a:rPr>
              <a:t>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4719" y="422087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200">
                <a:solidFill>
                  <a:srgbClr val="FFFFFF"/>
                </a:solidFill>
                <a:latin typeface="Space Grotesk"/>
              </a:rPr>
              <a:t>HARD CAP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8" y="0"/>
            <a:ext cx="4478731" cy="6858000"/>
          </a:xfrm>
          <a:prstGeom prst="rect">
            <a:avLst/>
          </a:prstGeom>
          <a:solidFill>
            <a:srgbClr val="FF5A1F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23913" y="2606040"/>
            <a:ext cx="411480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track record</a:t>
            </a:r>
          </a:p>
        </p:txBody>
      </p:sp>
      <p:sp>
        <p:nvSpPr>
          <p:cNvPr id="4" name="Text 2"/>
          <p:cNvSpPr/>
          <p:nvPr/>
        </p:nvSpPr>
        <p:spPr>
          <a:xfrm>
            <a:off x="6623913" y="2971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0CE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thesis is logged. Outcomes resolve only from real mark prices, so wins and losses both show.</a:t>
            </a:r>
          </a:p>
        </p:txBody>
      </p:sp>
      <p:sp>
        <p:nvSpPr>
          <p:cNvPr id="7" name="Shape 5"/>
          <p:cNvSpPr/>
          <p:nvPr/>
        </p:nvSpPr>
        <p:spPr>
          <a:xfrm>
            <a:off x="6623914" y="4101084"/>
            <a:ext cx="4539082" cy="2222906"/>
          </a:xfrm>
          <a:prstGeom prst="roundRect">
            <a:avLst>
              <a:gd name="adj" fmla="val 4895"/>
            </a:avLst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13448" y="4315968"/>
            <a:ext cx="399227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60-second judge path</a:t>
            </a:r>
          </a:p>
        </p:txBody>
      </p:sp>
      <p:sp>
        <p:nvSpPr>
          <p:cNvPr id="9" name="Text 7"/>
          <p:cNvSpPr/>
          <p:nvPr/>
        </p:nvSpPr>
        <p:spPr>
          <a:xfrm>
            <a:off x="7013448" y="4754880"/>
            <a:ext cx="415046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flowsentinel-app.vercel.app/judge</a:t>
            </a:r>
          </a:p>
        </p:txBody>
      </p:sp>
      <p:sp>
        <p:nvSpPr>
          <p:cNvPr id="10" name="Text 8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pic>
        <p:nvPicPr>
          <p:cNvPr id="12" name="Picture 11" descr="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5669280" cy="3000686"/>
          </a:xfrm>
          <a:prstGeom prst="rect">
            <a:avLst/>
          </a:prstGeom>
        </p:spPr>
      </p:pic>
      <p:pic>
        <p:nvPicPr>
          <p:cNvPr id="13" name="Picture 12" descr="t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5669280" cy="16660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3913" y="8686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FF5A1F"/>
                </a:solidFill>
                <a:latin typeface="Space Grotesk"/>
              </a:rPr>
              <a:t>Proof, not promises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13" y="129844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Space Grotesk"/>
              </a:rPr>
              <a:t>Check every claim</a:t>
            </a:r>
          </a:p>
          <a:p>
            <a:pPr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Space Grotesk"/>
              </a:rPr>
              <a:t>in 60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53492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Space Mono"/>
              </a:rPr>
              <a:t>/api/diag</a:t>
            </a:r>
            <a:r>
              <a:rPr sz="1200">
                <a:solidFill>
                  <a:srgbClr val="FFFFFF"/>
                </a:solidFill>
                <a:latin typeface="Inter"/>
              </a:rPr>
              <a:t> runs live probes against every integration: 10 of 10 pass.</a:t>
            </a:r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327355"/>
            <a:ext cx="1077163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</a:t>
            </a:r>
          </a:p>
        </p:txBody>
      </p:sp>
      <p:sp>
        <p:nvSpPr>
          <p:cNvPr id="3" name="Text 1"/>
          <p:cNvSpPr/>
          <p:nvPr/>
        </p:nvSpPr>
        <p:spPr>
          <a:xfrm>
            <a:off x="1378001" y="3499409"/>
            <a:ext cx="1077163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</a:t>
            </a:r>
          </a:p>
        </p:txBody>
      </p:sp>
      <p:sp>
        <p:nvSpPr>
          <p:cNvPr id="4" name="Text 2"/>
          <p:cNvSpPr/>
          <p:nvPr/>
        </p:nvSpPr>
        <p:spPr>
          <a:xfrm>
            <a:off x="1069848" y="2233879"/>
            <a:ext cx="10058400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to be trusted with keys</a:t>
            </a:r>
          </a:p>
        </p:txBody>
      </p:sp>
      <p:sp>
        <p:nvSpPr>
          <p:cNvPr id="5" name="Text 3"/>
          <p:cNvSpPr/>
          <p:nvPr/>
        </p:nvSpPr>
        <p:spPr>
          <a:xfrm>
            <a:off x="3047695" y="1613002"/>
            <a:ext cx="6096305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and security</a:t>
            </a:r>
          </a:p>
        </p:txBody>
      </p:sp>
      <p:sp>
        <p:nvSpPr>
          <p:cNvPr id="7" name="Shape 5"/>
          <p:cNvSpPr/>
          <p:nvPr/>
        </p:nvSpPr>
        <p:spPr>
          <a:xfrm>
            <a:off x="1033272" y="5657393"/>
            <a:ext cx="3308299" cy="668426"/>
          </a:xfrm>
          <a:prstGeom prst="rect">
            <a:avLst/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33271" y="5756148"/>
            <a:ext cx="3308299" cy="458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 b="1" spc="20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</a:t>
            </a:r>
          </a:p>
        </p:txBody>
      </p:sp>
      <p:sp>
        <p:nvSpPr>
          <p:cNvPr id="9" name="Shape 7"/>
          <p:cNvSpPr/>
          <p:nvPr/>
        </p:nvSpPr>
        <p:spPr>
          <a:xfrm>
            <a:off x="4443984" y="5657393"/>
            <a:ext cx="3308299" cy="668426"/>
          </a:xfrm>
          <a:prstGeom prst="rect">
            <a:avLst/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43984" y="5756148"/>
            <a:ext cx="3308299" cy="458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 b="1" spc="20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</a:p>
        </p:txBody>
      </p:sp>
      <p:sp>
        <p:nvSpPr>
          <p:cNvPr id="11" name="Shape 9"/>
          <p:cNvSpPr/>
          <p:nvPr/>
        </p:nvSpPr>
        <p:spPr>
          <a:xfrm>
            <a:off x="7854696" y="5657393"/>
            <a:ext cx="3308299" cy="668426"/>
          </a:xfrm>
          <a:prstGeom prst="rect">
            <a:avLst/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854696" y="5756148"/>
            <a:ext cx="3308299" cy="458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 b="1" spc="20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SPEED</a:t>
            </a:r>
          </a:p>
        </p:txBody>
      </p:sp>
      <p:sp>
        <p:nvSpPr>
          <p:cNvPr id="13" name="Text 11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6224" y="920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5A1F"/>
                </a:solidFill>
                <a:latin typeface="Space Grotesk"/>
              </a:rPr>
              <a:t>08</a:t>
            </a:r>
            <a:r>
              <a:rPr sz="1500" b="1">
                <a:solidFill>
                  <a:srgbClr val="8C8580"/>
                </a:solidFill>
                <a:latin typeface="Space Grotesk"/>
              </a:rPr>
              <a:t>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154680"/>
            <a:ext cx="330829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FF5A1F"/>
                </a:solidFill>
                <a:latin typeface="Space Grotesk"/>
              </a:rPr>
              <a:t>Next.js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1" y="4114800"/>
            <a:ext cx="2942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>
                <a:solidFill>
                  <a:srgbClr val="D0CECE"/>
                </a:solidFill>
                <a:latin typeface="Inter"/>
              </a:rPr>
              <a:t>Built with Next.js and deployed on Vercel. SoSoValue, Gemini and SoDEX calls run server-side.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154680"/>
            <a:ext cx="330829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FF5A1F"/>
                </a:solidFill>
                <a:latin typeface="Space Grotesk"/>
              </a:rPr>
              <a:t>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114800"/>
            <a:ext cx="2942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>
                <a:solidFill>
                  <a:srgbClr val="D0CECE"/>
                </a:solidFill>
                <a:latin typeface="Inter"/>
              </a:rPr>
              <a:t>Keys live on the server only. Every order needs the risk gate, an explicit confirm and fits a 10 USDC cap.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154680"/>
            <a:ext cx="330829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FF5A1F"/>
                </a:solidFill>
                <a:latin typeface="Space Grotesk"/>
              </a:rPr>
              <a:t>95 / 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5" y="4114800"/>
            <a:ext cx="2942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>
                <a:solidFill>
                  <a:srgbClr val="D0CECE"/>
                </a:solidFill>
                <a:latin typeface="Inter"/>
              </a:rPr>
              <a:t>Lighthouse score on desktop and on mobile, so the live demo loads fast on any device.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5756" y="-57607"/>
            <a:ext cx="7285939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</a:p>
        </p:txBody>
      </p:sp>
      <p:sp>
        <p:nvSpPr>
          <p:cNvPr id="3" name="Text 1"/>
          <p:cNvSpPr/>
          <p:nvPr/>
        </p:nvSpPr>
        <p:spPr>
          <a:xfrm>
            <a:off x="49378" y="3869741"/>
            <a:ext cx="7848295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900" dirty="0">
                <a:solidFill>
                  <a:srgbClr val="1A16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</a:p>
        </p:txBody>
      </p:sp>
      <p:sp>
        <p:nvSpPr>
          <p:cNvPr id="4" name="Shape 2"/>
          <p:cNvSpPr/>
          <p:nvPr/>
        </p:nvSpPr>
        <p:spPr>
          <a:xfrm>
            <a:off x="5067605" y="3098902"/>
            <a:ext cx="6096305" cy="3226003"/>
          </a:xfrm>
          <a:prstGeom prst="rect">
            <a:avLst/>
          </a:prstGeom>
          <a:solidFill>
            <a:srgbClr val="FF5A1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05195" y="3977639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Mainnet, then subscriptions</a:t>
            </a:r>
          </a:p>
        </p:txBody>
      </p:sp>
      <p:sp>
        <p:nvSpPr>
          <p:cNvPr id="6" name="Text 4"/>
          <p:cNvSpPr/>
          <p:nvPr/>
        </p:nvSpPr>
        <p:spPr>
          <a:xfrm>
            <a:off x="5905195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on this slide is a result yet. It is where FlowSentinel goes next.</a:t>
            </a:r>
          </a:p>
        </p:txBody>
      </p:sp>
      <p:sp>
        <p:nvSpPr>
          <p:cNvPr id="8" name="Text 6"/>
          <p:cNvSpPr/>
          <p:nvPr/>
        </p:nvSpPr>
        <p:spPr>
          <a:xfrm>
            <a:off x="7794346" y="17830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 launch. 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execution from SoDEX testnet to mainnet with the same risk gate, confirm step and caps.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3200400" cy="376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Subscription tiers</a:t>
            </a:r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3566160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free read-only desk up to paid tiers with live, gated execution.</a:t>
            </a:r>
          </a:p>
        </p:txBody>
      </p:sp>
      <p:sp>
        <p:nvSpPr>
          <p:cNvPr id="15" name="Text 13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914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>
                <a:solidFill>
                  <a:srgbClr val="FF5A1F"/>
                </a:solidFill>
                <a:latin typeface="Space Grotesk"/>
              </a:rPr>
              <a:t>Roadmap and 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146304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Space Grotesk"/>
              </a:rPr>
              <a:t>What comes after</a:t>
            </a:r>
          </a:p>
          <a:p>
            <a:pPr>
              <a:lnSpc>
                <a:spcPct val="95000"/>
              </a:lnSpc>
            </a:pPr>
            <a:r>
              <a:rPr sz="4000" b="1">
                <a:solidFill>
                  <a:srgbClr val="FFFFFF"/>
                </a:solidFill>
                <a:latin typeface="Space Grotesk"/>
              </a:rPr>
              <a:t>the buildathon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195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spc="200">
                <a:solidFill>
                  <a:srgbClr val="FFFFFF"/>
                </a:solidFill>
                <a:latin typeface="Space Grotesk"/>
              </a:rPr>
              <a:t>A PLAN, NOT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4345" y="1371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F5A1F"/>
                </a:solidFill>
                <a:latin typeface="Space Grotesk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F5A1F"/>
                </a:solidFill>
                <a:latin typeface="Space Grotesk"/>
              </a:rPr>
              <a:t>02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000" kern="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the flow. </a:t>
            </a:r>
            <a:r>
              <a:rPr lang="en-US" sz="5000" kern="0" dirty="0" b="1">
                <a:solidFill>
                  <a:srgbClr val="FF5A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 with a gate.</a:t>
            </a:r>
          </a:p>
        </p:txBody>
      </p:sp>
      <p:sp>
        <p:nvSpPr>
          <p:cNvPr id="3" name="Text 1"/>
          <p:cNvSpPr/>
          <p:nvPr/>
        </p:nvSpPr>
        <p:spPr>
          <a:xfrm>
            <a:off x="1527048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0CEC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FlowSentinel, built by Narendra Varma</a:t>
            </a:r>
          </a:p>
        </p:txBody>
      </p:sp>
      <p:sp>
        <p:nvSpPr>
          <p:cNvPr id="4" name="Text 2"/>
          <p:cNvSpPr/>
          <p:nvPr/>
        </p:nvSpPr>
        <p:spPr>
          <a:xfrm>
            <a:off x="912571" y="630936"/>
            <a:ext cx="4023360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you, judges. Every claim in this deck can be checked live in the app, on SoDEX testnet, or in the code.</a:t>
            </a:r>
          </a:p>
        </p:txBody>
      </p:sp>
      <p:sp>
        <p:nvSpPr>
          <p:cNvPr id="5" name="Shape 3"/>
          <p:cNvSpPr/>
          <p:nvPr/>
        </p:nvSpPr>
        <p:spPr>
          <a:xfrm>
            <a:off x="991210" y="1645006"/>
            <a:ext cx="1239012" cy="0"/>
          </a:xfrm>
          <a:prstGeom prst="line">
            <a:avLst/>
          </a:prstGeom>
          <a:noFill/>
          <a:ln w="635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05256" y="6080760"/>
            <a:ext cx="3291840" cy="319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Judge path: /judge</a:t>
            </a:r>
          </a:p>
        </p:txBody>
      </p:sp>
      <p:sp>
        <p:nvSpPr>
          <p:cNvPr id="7" name="Text 5"/>
          <p:cNvSpPr/>
          <p:nvPr/>
        </p:nvSpPr>
        <p:spPr>
          <a:xfrm>
            <a:off x="3813048" y="6080760"/>
            <a:ext cx="4572000" cy="319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/>
              </a:rPr>
              <a:t>github.com/Cyptoboy777/soso-smre</a:t>
            </a:r>
          </a:p>
        </p:txBody>
      </p:sp>
      <p:sp>
        <p:nvSpPr>
          <p:cNvPr id="8" name="Text 6"/>
          <p:cNvSpPr/>
          <p:nvPr/>
        </p:nvSpPr>
        <p:spPr>
          <a:xfrm>
            <a:off x="8503920" y="6080760"/>
            <a:ext cx="2788920" cy="319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algn="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Builder: Narendra Varma</a:t>
            </a:r>
          </a:p>
        </p:txBody>
      </p:sp>
      <p:sp>
        <p:nvSpPr>
          <p:cNvPr id="9" name="Text 7"/>
          <p:cNvSpPr/>
          <p:nvPr/>
        </p:nvSpPr>
        <p:spPr>
          <a:xfrm>
            <a:off x="11036808" y="416052"/>
            <a:ext cx="1051560" cy="336499"/>
          </a:xfrm>
          <a:prstGeom prst="rect">
            <a:avLst/>
          </a:prstGeom>
          <a:noFill/>
          <a:ln/>
        </p:spPr>
        <p:txBody>
          <a:bodyPr wrap="square" rtlCol="0" anchor="t" lIns="0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 b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FlowSentinel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104" y="10515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27048" y="4069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5A1F"/>
                </a:solidFill>
                <a:latin typeface="Space Grotesk"/>
                <a:hlinkClick r:id="rId4"/>
              </a:rPr>
              <a:t>flowsentinel-app.vercel.app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4709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>
                <a:solidFill>
                  <a:srgbClr val="D0CECE"/>
                </a:solidFill>
                <a:latin typeface="Inter"/>
              </a:rPr>
              <a:t>Open it, run the judge path, then read the code.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031" y="439607"/>
            <a:ext cx="289389" cy="2893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5A1F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HORIJON MOVIE</dc:title>
  <dc:subject>PptxGenJS Presentation</dc:subject>
  <dc:creator>PptxGenJS</dc:creator>
  <cp:lastModifiedBy>PptxGenJS</cp:lastModifiedBy>
  <cp:revision>1</cp:revision>
  <dcterms:created xsi:type="dcterms:W3CDTF">2026-10-30T08:56:27Z</dcterms:created>
  <dcterms:modified xsi:type="dcterms:W3CDTF">2026-10-30T08:56:27Z</dcterms:modified>
</cp:coreProperties>
</file>